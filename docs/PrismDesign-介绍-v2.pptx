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0000"/>
            <a:ext cx="10363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01  旧协作模式：各自为政，沟通成本高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0000"/>
            <a:ext cx="103632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888899"/>
                </a:solidFill>
              </a:rPr>
              <a:t>同一份 UI 三个角色各做一遍；任何需求变更，三处都要同步修改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60000"/>
            <a:ext cx="3000000" cy="42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产品经理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0200" y="1660000"/>
            <a:ext cx="3000000" cy="42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设计师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6000" y="1660000"/>
            <a:ext cx="3000000" cy="42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前端开发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4400" y="208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0200" y="208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000" y="208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50000"/>
            <a:ext cx="3000000" cy="3600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</a:rPr>
              <a:t>AI 生成 HTML 原型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0200" y="2350000"/>
            <a:ext cx="3000000" cy="3600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</a:rPr>
              <a:t>AI 生成独立设计稿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86000" y="2350000"/>
            <a:ext cx="3000000" cy="36000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2E"/>
                </a:solidFill>
              </a:rPr>
              <a:t>AI 从零写项目代码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4400" y="27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0200" y="27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000" y="27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980000"/>
            <a:ext cx="3000000" cy="360000"/>
          </a:xfrm>
          <a:prstGeom prst="roundRect">
            <a:avLst/>
          </a:prstGeom>
          <a:solidFill>
            <a:srgbClr val="EB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4A6CF7"/>
                </a:solidFill>
              </a:rPr>
              <a:t>原型文件（独立）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0200" y="2980000"/>
            <a:ext cx="3000000" cy="360000"/>
          </a:xfrm>
          <a:prstGeom prst="roundRect">
            <a:avLst/>
          </a:prstGeom>
          <a:solidFill>
            <a:srgbClr val="EB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0B981"/>
                </a:solidFill>
              </a:rPr>
              <a:t>设计稿文件（独立）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6000" y="2980000"/>
            <a:ext cx="3000000" cy="360000"/>
          </a:xfrm>
          <a:prstGeom prst="roundRect">
            <a:avLst/>
          </a:prstGeom>
          <a:solidFill>
            <a:srgbClr val="FE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59E0B"/>
                </a:solidFill>
              </a:rPr>
              <a:t>前端代码（独立）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4400" y="334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888899"/>
                </a:solidFill>
              </a:rPr>
              <a:t>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0200" y="334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888899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000" y="334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888899"/>
                </a:solidFill>
              </a:rPr>
              <a:t>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690000"/>
            <a:ext cx="9571600" cy="430000"/>
          </a:xfrm>
          <a:prstGeom prst="round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11D48"/>
                </a:solidFill>
              </a:rPr>
              <a:t>反复对齐会议  ×  3 ～ 5 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400" y="4270000"/>
            <a:ext cx="309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• 同一个 UI 被做了 3 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4933" y="4270000"/>
            <a:ext cx="309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• 每次变更三处都要同步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5466" y="4270000"/>
            <a:ext cx="309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</a:rPr>
              <a:t>• 上下文在传递中衰减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0000"/>
            <a:ext cx="10363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02  新协作模式：以源码为中心，消除对齐成本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0000"/>
            <a:ext cx="103632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888899"/>
                </a:solidFill>
              </a:rPr>
              <a:t>每个角色用最擅长的方式直接作用于同一份代码，修改即同步，无需反复对齐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60000"/>
            <a:ext cx="2100000" cy="46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产品经理</a:t>
            </a:r>
          </a:p>
          <a:p>
            <a:pPr algn="ctr"/>
            <a:r>
              <a:rPr sz="1200">
                <a:solidFill>
                  <a:srgbClr val="CCD6FF"/>
                </a:solidFill>
              </a:rPr>
              <a:t>标注需求 · 评论元素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9400" y="270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20000"/>
            <a:ext cx="2100000" cy="46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设计师</a:t>
            </a:r>
          </a:p>
          <a:p>
            <a:pPr algn="ctr"/>
            <a:r>
              <a:rPr sz="1200">
                <a:solidFill>
                  <a:srgbClr val="BBEEDD"/>
                </a:solidFill>
              </a:rPr>
              <a:t>可视化调整样式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9400" y="336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80000"/>
            <a:ext cx="2100000" cy="46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前端开发</a:t>
            </a:r>
          </a:p>
          <a:p>
            <a:pPr algn="ctr"/>
            <a:r>
              <a:rPr sz="1200">
                <a:solidFill>
                  <a:srgbClr val="FFEEBB"/>
                </a:solidFill>
              </a:rPr>
              <a:t>补充业务逻辑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9400" y="402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4400" y="2710000"/>
            <a:ext cx="2100000" cy="168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PrismDesign</a:t>
            </a:r>
          </a:p>
          <a:p>
            <a:pPr algn="ctr"/>
            <a:r>
              <a:rPr sz="1600">
                <a:solidFill>
                  <a:srgbClr val="BBCCFF"/>
                </a:solidFill>
              </a:rPr>
              <a:t>Chrome 插件 + 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9400" y="336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4400" y="3170000"/>
            <a:ext cx="1950000" cy="760000"/>
          </a:xfrm>
          <a:prstGeom prst="roundRect">
            <a:avLst/>
          </a:prstGeom>
          <a:solidFill>
            <a:srgbClr val="1E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源代码仓库</a:t>
            </a:r>
          </a:p>
          <a:p>
            <a:pPr algn="ctr"/>
            <a:r>
              <a:rPr sz="1300">
                <a:solidFill>
                  <a:srgbClr val="8888AA"/>
                </a:solidFill>
              </a:rPr>
              <a:t>Git 可追溯 · 可回滚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400" y="336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4400" y="3260000"/>
            <a:ext cx="1700000" cy="58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运行中的页面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150000"/>
            <a:ext cx="3110533" cy="780000"/>
          </a:xfrm>
          <a:prstGeom prst="roundRect">
            <a:avLst/>
          </a:prstGeom>
          <a:solidFill>
            <a:srgbClr val="F5F5FA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150000"/>
            <a:ext cx="45720" cy="78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4400" y="528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零歧义沟通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4400" y="557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点击元素精准标注，告别模糊文字描述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44933" y="5150000"/>
            <a:ext cx="3110533" cy="780000"/>
          </a:xfrm>
          <a:prstGeom prst="roundRect">
            <a:avLst/>
          </a:prstGeom>
          <a:solidFill>
            <a:srgbClr val="F5F5FA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44933" y="5150000"/>
            <a:ext cx="45720" cy="78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4933" y="528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即改即看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4933" y="557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样式修改直接反映到页面，无需设计稿还原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5466" y="5150000"/>
            <a:ext cx="3110533" cy="780000"/>
          </a:xfrm>
          <a:prstGeom prst="roundRect">
            <a:avLst/>
          </a:prstGeom>
          <a:solidFill>
            <a:srgbClr val="F5F5FA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75466" y="5150000"/>
            <a:ext cx="45720" cy="78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466" y="528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</a:rPr>
              <a:t>对齐成本 -80%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466" y="5570000"/>
            <a:ext cx="29305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</a:rPr>
              <a:t>无需反复会议，需求变更自动扩散到各层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0000"/>
            <a:ext cx="10363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03  实现方案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0000"/>
            <a:ext cx="103632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888899"/>
                </a:solidFill>
              </a:rPr>
              <a:t>Chrome 插件 + AI Agent 服务，两个组件协同工作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000" y="2000000"/>
            <a:ext cx="2200000" cy="40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0000" y="2100000"/>
            <a:ext cx="20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用户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2400000"/>
            <a:ext cx="2200000" cy="1600000"/>
          </a:xfrm>
          <a:prstGeom prst="roundRect">
            <a:avLst/>
          </a:prstGeom>
          <a:solidFill>
            <a:srgbClr val="EBEE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52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产品经理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000" y="279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设计师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000" y="306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前端开发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0000" y="2000000"/>
            <a:ext cx="2200000" cy="40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0000" y="2100000"/>
            <a:ext cx="20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Chrome 插件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0000" y="2400000"/>
            <a:ext cx="2200000" cy="1600000"/>
          </a:xfrm>
          <a:prstGeom prst="roundRect">
            <a:avLst/>
          </a:prstGeom>
          <a:solidFill>
            <a:srgbClr val="EBF7F2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0000" y="252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浮动工具栏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0000" y="279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元素选中与检测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0000" y="306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属性编辑面板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0000" y="333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评论标注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0000" y="360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聊天面板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0000" y="2000000"/>
            <a:ext cx="2200000" cy="40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60000" y="2100000"/>
            <a:ext cx="20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Agent 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00000" y="2400000"/>
            <a:ext cx="2200000" cy="1600000"/>
          </a:xfrm>
          <a:prstGeom prst="roundRect">
            <a:avLst/>
          </a:prstGeom>
          <a:solidFill>
            <a:srgbClr val="F5F5FA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0000" y="252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项目扫描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0000" y="279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上下文构建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0000" y="306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代码搜索与读写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0000" y="333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HMR 热更新联动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0000" y="360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MCP / Skill 扩展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0000" y="2000000"/>
            <a:ext cx="2200000" cy="400000"/>
          </a:xfrm>
          <a:prstGeom prst="roundRect">
            <a:avLst/>
          </a:prstGeom>
          <a:solidFill>
            <a:srgbClr val="C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60000" y="2100000"/>
            <a:ext cx="20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项目源代码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0000" y="2400000"/>
            <a:ext cx="2200000" cy="1600000"/>
          </a:xfrm>
          <a:prstGeom prst="roundRect">
            <a:avLst/>
          </a:prstGeom>
          <a:solidFill>
            <a:srgbClr val="FEF9EB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0000" y="252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组件库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0000" y="279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设计规范 / 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0000" y="306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业务代码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0000" y="3330000"/>
            <a:ext cx="2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· Git 版本管理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0000" y="28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0000" y="28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0000" y="2810000"/>
            <a:ext cx="3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00000" y="3240000"/>
            <a:ext cx="3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浏览器操作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0000" y="3240000"/>
            <a:ext cx="3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WebSocket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0000" y="3240000"/>
            <a:ext cx="38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</a:rPr>
              <a:t>读写代码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0000" y="4280000"/>
            <a:ext cx="10792000" cy="500000"/>
          </a:xfrm>
          <a:prstGeom prst="roundRect">
            <a:avLst/>
          </a:prstGeom>
          <a:solidFill>
            <a:srgbClr val="F5F5FA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插件通过 Content Script 注入页面，实现元素选中、高亮、属性编辑；源代码变更后 HMR 热更新自动刷新页面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0000"/>
            <a:ext cx="10363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04  插件演示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0" y="3200000"/>
            <a:ext cx="6096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BBBB"/>
                </a:solidFill>
              </a:rPr>
              <a:t>（请在此处插入演示视频或截图）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80000"/>
            <a:ext cx="10363200" cy="6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05  协作效率提升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0000"/>
            <a:ext cx="103632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888899"/>
                </a:solidFill>
              </a:rPr>
              <a:t>从「反复对齐」到「同步工作」，每个协作环节都有质变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60000"/>
            <a:ext cx="2500000" cy="480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400" y="1660000"/>
            <a:ext cx="2700000" cy="4800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旧模式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4400" y="1660000"/>
            <a:ext cx="2700000" cy="48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新模式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94400" y="1660000"/>
            <a:ext cx="1660000" cy="480000"/>
          </a:xfrm>
          <a:prstGeom prst="roundRect">
            <a:avLst/>
          </a:prstGeom>
          <a:solidFill>
            <a:srgbClr val="4A6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改善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56000"/>
            <a:ext cx="25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4400" y="2286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需求传达方式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400" y="2156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4400" y="2286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文字描述 + 多轮会议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4400" y="2156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4400" y="2286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点击元素直接标注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4400" y="2156000"/>
            <a:ext cx="166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400" y="2286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零歧义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692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4400" y="2822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UI 维护份数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400" y="2692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4400" y="2822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3 份（原型+设计+代码）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4400" y="2692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4400" y="2822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1 份（源码即一切）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4400" y="2692000"/>
            <a:ext cx="166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400" y="2822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↓ 67%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228000"/>
            <a:ext cx="25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4400" y="3358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对齐轮次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400" y="3228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4400" y="3358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3 ～ 5 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4400" y="3228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4400" y="3358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0 ～ 1 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4400" y="3228000"/>
            <a:ext cx="166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400" y="3358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↓ 80%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3764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4400" y="3894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设计走查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400" y="3764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24400" y="3894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必须（存在还原偏差）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4400" y="3764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4400" y="3894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不需要（所见即代码）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4400" y="3764000"/>
            <a:ext cx="166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400" y="3894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消除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300000"/>
            <a:ext cx="25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4400" y="4430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样式修改路径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400" y="4300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4400" y="443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设计→开发→实现→验收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4400" y="4300000"/>
            <a:ext cx="270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4400" y="443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直接在页面上调整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94400" y="4300000"/>
            <a:ext cx="1660000" cy="520000"/>
          </a:xfrm>
          <a:prstGeom prst="roundRect">
            <a:avLst/>
          </a:prstGeom>
          <a:solidFill>
            <a:srgbClr val="FAFAFD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400" y="4430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即时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4836000"/>
            <a:ext cx="25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4400" y="4966000"/>
            <a:ext cx="23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需求变更成本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74400" y="4836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24400" y="4966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2222"/>
                </a:solidFill>
              </a:rPr>
              <a:t>三处独立修改，易遗漏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34400" y="4836000"/>
            <a:ext cx="270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84400" y="4966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7A55"/>
                </a:solidFill>
              </a:rPr>
              <a:t>改一处自动同步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94400" y="4836000"/>
            <a:ext cx="1660000" cy="5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400" y="4966000"/>
            <a:ext cx="146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CF7"/>
                </a:solidFill>
              </a:rPr>
              <a:t>显著降低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