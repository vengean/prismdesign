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01  现状与痛点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Microsoft YaHei"/>
              </a:defRPr>
            </a:pPr>
            <a:r>
              <a:t>AI 时代，研发流程的效率瓶颈不在编码，而在协作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45720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传统研发流程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868680" cy="41148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需求文档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78892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743200"/>
            <a:ext cx="868680" cy="41148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设计稿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59" y="278892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743200"/>
            <a:ext cx="868680" cy="41148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前端编码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78892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199" y="2743200"/>
            <a:ext cx="868680" cy="41148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视觉走查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78892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2743200"/>
            <a:ext cx="868680" cy="41148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修改返工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8C8D2"/>
                </a:solidFill>
                <a:latin typeface="Microsoft YaHei"/>
              </a:defRPr>
            </a:pPr>
            <a:r>
              <a:t>  串行等待：每个环节必须等上一个完成</a:t>
            </a:r>
          </a:p>
          <a:p>
            <a:pPr>
              <a:spcAft>
                <a:spcPts val="800"/>
              </a:spcAft>
              <a:defRPr sz="1300">
                <a:solidFill>
                  <a:srgbClr val="C8C8D2"/>
                </a:solidFill>
                <a:latin typeface="Microsoft YaHei"/>
              </a:defRPr>
            </a:pPr>
            <a:r>
              <a:t>  产出物断裂：文档 / 设计稿 / 代码各自独立</a:t>
            </a:r>
          </a:p>
          <a:p>
            <a:pPr>
              <a:spcAft>
                <a:spcPts val="800"/>
              </a:spcAft>
              <a:defRPr sz="1300">
                <a:solidFill>
                  <a:srgbClr val="C8C8D2"/>
                </a:solidFill>
                <a:latin typeface="Microsoft YaHei"/>
              </a:defRPr>
            </a:pPr>
            <a:r>
              <a:t>  视觉还原难：反复走查，逐一核对间距颜色</a:t>
            </a:r>
          </a:p>
          <a:p>
            <a:pPr>
              <a:spcAft>
                <a:spcPts val="800"/>
              </a:spcAft>
              <a:defRPr sz="1300">
                <a:solidFill>
                  <a:srgbClr val="C8C8D2"/>
                </a:solidFill>
                <a:latin typeface="Microsoft YaHei"/>
              </a:defRPr>
            </a:pPr>
            <a:r>
              <a:t>  沟通成本高：多轮会议确认细节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011680"/>
            <a:ext cx="5120640" cy="4572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各角色独立使用 AI（行业现状）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743200"/>
            <a:ext cx="1600200" cy="41148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产品 AI 生成原型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78892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743200"/>
            <a:ext cx="1600200" cy="41148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设计 AI 出设计稿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278892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2743200"/>
            <a:ext cx="1600200" cy="41148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Microsoft YaHei"/>
              </a:defRPr>
            </a:pPr>
            <a:r>
              <a:t>开发 AI 写代码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8C8D2"/>
                </a:solidFill>
                <a:latin typeface="Microsoft YaHei"/>
              </a:defRPr>
            </a:pPr>
            <a:r>
              <a:t>  同一页面被 AI 生成三遍，每次从零开始</a:t>
            </a:r>
          </a:p>
          <a:p>
            <a:pPr>
              <a:spcAft>
                <a:spcPts val="800"/>
              </a:spcAft>
              <a:defRPr sz="1300">
                <a:solidFill>
                  <a:srgbClr val="C8C8D2"/>
                </a:solidFill>
                <a:latin typeface="Microsoft YaHei"/>
              </a:defRPr>
            </a:pPr>
            <a:r>
              <a:t>  无法继承项目组件库、设计规范、技术栈</a:t>
            </a:r>
          </a:p>
          <a:p>
            <a:pPr>
              <a:spcAft>
                <a:spcPts val="800"/>
              </a:spcAft>
              <a:defRPr sz="1300">
                <a:solidFill>
                  <a:srgbClr val="C8C8D2"/>
                </a:solidFill>
                <a:latin typeface="Microsoft YaHei"/>
              </a:defRPr>
            </a:pPr>
            <a:r>
              <a:t>  AI 生成的代码不符合项目规范</a:t>
            </a:r>
          </a:p>
          <a:p>
            <a:pPr>
              <a:spcAft>
                <a:spcPts val="800"/>
              </a:spcAft>
              <a:defRPr sz="1300">
                <a:solidFill>
                  <a:srgbClr val="C8C8D2"/>
                </a:solidFill>
                <a:latin typeface="Microsoft YaHei"/>
              </a:defRPr>
            </a:pPr>
            <a:r>
              <a:t>  交接返工成本并未减少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6000" y="5760720"/>
            <a:ext cx="7589520" cy="640080"/>
          </a:xfrm>
          <a:prstGeom prst="roundRect">
            <a:avLst/>
          </a:prstGeom>
          <a:solidFill>
            <a:srgbClr val="2D2D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C864"/>
                </a:solidFill>
                <a:latin typeface="Microsoft YaHei"/>
              </a:defRPr>
            </a:pPr>
            <a:r>
              <a:t>核心矛盾：需求 → 设计 → 代码，每次转化都是信息损耗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1E2E"/>
                </a:solidFill>
                <a:latin typeface="Microsoft YaHei"/>
              </a:defRPr>
            </a:pPr>
            <a:r>
              <a:t>02  PrismDesign 怎么做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Microsoft YaHei"/>
              </a:defRPr>
            </a:pPr>
            <a:r>
              <a:t>Chrome 插件 + AI Agent —— 所有人在同一份源代码上协作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737360"/>
            <a:ext cx="57607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代码即设计稿，设计稿即代码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291840" cy="4572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产品经理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246120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2004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自然语言描述页面需求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840480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7947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Agent 生成页面代码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434840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389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预览效果，继续对话调整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29200"/>
            <a:ext cx="274320" cy="2743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983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填充 Mock 数据，产出可演示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560320"/>
            <a:ext cx="3291840" cy="4572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设计师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246120"/>
            <a:ext cx="274320" cy="27432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2004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选择模式：点击元素查看属性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840480"/>
            <a:ext cx="274320" cy="27432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7947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直接调整颜色、字号、间距等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4434840"/>
            <a:ext cx="274320" cy="27432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389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评论模式：标注修改意图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5029200"/>
            <a:ext cx="274320" cy="27432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983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一键同步，Agent 修改源代码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2560320"/>
            <a:ext cx="3291840" cy="45720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前端开发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3246120"/>
            <a:ext cx="274320" cy="27432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2004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Review Agent 生成的 Git diff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840480"/>
            <a:ext cx="274320" cy="27432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37947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补充业务逻辑和接口对接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4434840"/>
            <a:ext cx="274320" cy="27432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389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前后端联调上线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5029200"/>
            <a:ext cx="274320" cy="27432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983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拿到的是符合规范的代码骨架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0" y="5303520"/>
            <a:ext cx="3931920" cy="502920"/>
          </a:xfrm>
          <a:prstGeom prst="roundRect">
            <a:avLst/>
          </a:prstGeom>
          <a:solidFill>
            <a:srgbClr val="F5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E1E2E"/>
                </a:solidFill>
                <a:latin typeface="Microsoft YaHei"/>
              </a:defRPr>
            </a:pPr>
            <a:r>
              <a:t>AI Agent 自动扫描项目 → 读取规范 → 生成符合项目约定的代码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943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需求→Demo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6263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366F1"/>
                </a:solidFill>
                <a:latin typeface="Microsoft YaHei"/>
              </a:defRPr>
            </a:pPr>
            <a:r>
              <a:t>节省 ~80%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5943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视觉走查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6263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366F1"/>
                </a:solidFill>
                <a:latin typeface="Microsoft YaHei"/>
              </a:defRPr>
            </a:pPr>
            <a:r>
              <a:t>节省 ~90%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943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设计→代码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6263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366F1"/>
                </a:solidFill>
                <a:latin typeface="Microsoft YaHei"/>
              </a:defRPr>
            </a:pPr>
            <a:r>
              <a:t>节省 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59" y="5943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B7280"/>
                </a:solidFill>
                <a:latin typeface="Microsoft YaHei"/>
              </a:defRPr>
            </a:pPr>
            <a:r>
              <a:t>沟通确认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59" y="62636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366F1"/>
                </a:solidFill>
                <a:latin typeface="Microsoft YaHei"/>
              </a:defRPr>
            </a:pPr>
            <a:r>
              <a:t>节省 ~70%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03  对比 Claude Code 等工具的优势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Microsoft YaHei"/>
              </a:defRPr>
            </a:pPr>
            <a:r>
              <a:t>不只是代码生成工具，而是面向业务团队的可视化协作平台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1965960" cy="54864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4069080" cy="548640"/>
          </a:xfrm>
          <a:prstGeom prst="roundRect">
            <a:avLst/>
          </a:prstGeom>
          <a:solidFill>
            <a:srgbClr val="3737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Claude Code / Cursor 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920240"/>
            <a:ext cx="4343400" cy="54864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PrismDesign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96596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8C8D2"/>
                </a:solidFill>
                <a:latin typeface="Microsoft YaHei"/>
              </a:defRPr>
            </a:pPr>
            <a:r>
              <a:t>使用门槛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514600"/>
            <a:ext cx="406908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需要 IDE 环境，面向开发者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514600"/>
            <a:ext cx="434340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B4E6B4"/>
                </a:solidFill>
                <a:latin typeface="Microsoft YaHei"/>
              </a:defRPr>
            </a:pPr>
            <a:r>
              <a:t>Chrome 浏览器即可，产品 / 设计可直接使用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1965960" cy="548640"/>
          </a:xfrm>
          <a:prstGeom prst="roundRect">
            <a:avLst/>
          </a:prstGeom>
          <a:solidFill>
            <a:srgbClr val="30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8C8D2"/>
                </a:solidFill>
                <a:latin typeface="Microsoft YaHei"/>
              </a:defRPr>
            </a:pPr>
            <a:r>
              <a:t>交互方式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3108960"/>
            <a:ext cx="4069080" cy="548640"/>
          </a:xfrm>
          <a:prstGeom prst="roundRect">
            <a:avLst/>
          </a:prstGeom>
          <a:solidFill>
            <a:srgbClr val="30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纯文本对话 + 终端命令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3108960"/>
            <a:ext cx="4343400" cy="548640"/>
          </a:xfrm>
          <a:prstGeom prst="roundRect">
            <a:avLst/>
          </a:prstGeom>
          <a:solidFill>
            <a:srgbClr val="30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B4E6B4"/>
                </a:solidFill>
                <a:latin typeface="Microsoft YaHei"/>
              </a:defRPr>
            </a:pPr>
            <a:r>
              <a:t>可视化选中 + 属性编辑 + 自然语言，三者结合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03320"/>
            <a:ext cx="196596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8C8D2"/>
                </a:solidFill>
                <a:latin typeface="Microsoft YaHei"/>
              </a:defRPr>
            </a:pPr>
            <a:r>
              <a:t>元素定位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703320"/>
            <a:ext cx="406908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用自然语言描述"那个蓝色按钮"，模型猜测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3703320"/>
            <a:ext cx="434340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B4E6B4"/>
                </a:solidFill>
                <a:latin typeface="Microsoft YaHei"/>
              </a:defRPr>
            </a:pPr>
            <a:r>
              <a:t>点击即定位：自动采集组件名、源码路径、行号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97680"/>
            <a:ext cx="1965960" cy="548640"/>
          </a:xfrm>
          <a:prstGeom prst="roundRect">
            <a:avLst/>
          </a:prstGeom>
          <a:solidFill>
            <a:srgbClr val="30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8C8D2"/>
                </a:solidFill>
                <a:latin typeface="Microsoft YaHei"/>
              </a:defRPr>
            </a:pPr>
            <a:r>
              <a:t>项目感知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4297680"/>
            <a:ext cx="4069080" cy="548640"/>
          </a:xfrm>
          <a:prstGeom prst="roundRect">
            <a:avLst/>
          </a:prstGeom>
          <a:solidFill>
            <a:srgbClr val="30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读取当前文件上下文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4297680"/>
            <a:ext cx="4343400" cy="548640"/>
          </a:xfrm>
          <a:prstGeom prst="roundRect">
            <a:avLst/>
          </a:prstGeom>
          <a:solidFill>
            <a:srgbClr val="30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B4E6B4"/>
                </a:solidFill>
                <a:latin typeface="Microsoft YaHei"/>
              </a:defRPr>
            </a:pPr>
            <a:r>
              <a:t>启动时扫描全项目：框架 / 组件库 / 设计规范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92040"/>
            <a:ext cx="196596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8C8D2"/>
                </a:solidFill>
                <a:latin typeface="Microsoft YaHei"/>
              </a:defRPr>
            </a:pPr>
            <a:r>
              <a:t>协作模式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892040"/>
            <a:ext cx="406908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单人使用，开发者专属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4892040"/>
            <a:ext cx="434340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B4E6B4"/>
                </a:solidFill>
                <a:latin typeface="Microsoft YaHei"/>
              </a:defRPr>
            </a:pPr>
            <a:r>
              <a:t>产品搭 Demo → 设计调视觉 → 开发补逻辑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486400"/>
            <a:ext cx="1965960" cy="548640"/>
          </a:xfrm>
          <a:prstGeom prst="roundRect">
            <a:avLst/>
          </a:prstGeom>
          <a:solidFill>
            <a:srgbClr val="30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8C8D2"/>
                </a:solidFill>
                <a:latin typeface="Microsoft YaHei"/>
              </a:defRPr>
            </a:pPr>
            <a:r>
              <a:t>修改反馈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5486400"/>
            <a:ext cx="4069080" cy="548640"/>
          </a:xfrm>
          <a:prstGeom prst="roundRect">
            <a:avLst/>
          </a:prstGeom>
          <a:solidFill>
            <a:srgbClr val="30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修改代码后需手动刷新预览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5486400"/>
            <a:ext cx="4343400" cy="548640"/>
          </a:xfrm>
          <a:prstGeom prst="roundRect">
            <a:avLst/>
          </a:prstGeom>
          <a:solidFill>
            <a:srgbClr val="30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B4E6B4"/>
                </a:solidFill>
                <a:latin typeface="Microsoft YaHei"/>
              </a:defRPr>
            </a:pPr>
            <a:r>
              <a:t>HMR 热更新，修改实时生效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6080760"/>
            <a:ext cx="196596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8C8D2"/>
                </a:solidFill>
                <a:latin typeface="Microsoft YaHei"/>
              </a:defRPr>
            </a:pPr>
            <a:r>
              <a:t>版本管理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6080760"/>
            <a:ext cx="406908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依赖用户自行管理 Git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6080760"/>
            <a:ext cx="4343400" cy="548640"/>
          </a:xfrm>
          <a:prstGeom prst="roundRect">
            <a:avLst/>
          </a:prstGeom>
          <a:solidFill>
            <a:srgbClr val="28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B4E6B4"/>
                </a:solidFill>
                <a:latin typeface="Microsoft YaHei"/>
              </a:defRPr>
            </a:pPr>
            <a:r>
              <a:t>所有修改直接体现在 Git diff，天然可追溯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0" y="5943600"/>
            <a:ext cx="7589520" cy="54864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PrismDesign = 可视化编辑能力 + 项目级 AI Agent + 多角色协作流程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