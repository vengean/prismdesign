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61" r:id="rId12"/>
    <p:sldId id="262" r:id="rId13"/>
    <p:sldId id="263" r:id="rId14"/>
    <p:sldId id="256" r:id="rId7"/>
    <p:sldId id="257" r:id="rId8"/>
    <p:sldId id="258" r:id="rId9"/>
    <p:sldId id="259" r:id="rId10"/>
    <p:sldId id="260" r:id="rId11"/>
    <p:sldId id="264" r:id="rId15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380000"/>
            <a:ext cx="10363200" cy="64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>
                <a:solidFill>
                  <a:srgbClr val="1A1A2E"/>
                </a:solidFill>
              </a:rPr>
              <a:t>01  旧协作模式：各自为政，沟通成本高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020000"/>
            <a:ext cx="10363200" cy="4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>
                <a:solidFill>
                  <a:srgbClr val="888899"/>
                </a:solidFill>
              </a:rPr>
              <a:t>同一份 UI 三个角色各做一遍；任何需求变更，三处都要同步修改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1660000"/>
            <a:ext cx="3000000" cy="420000"/>
          </a:xfrm>
          <a:prstGeom prst="roundRect">
            <a:avLst/>
          </a:prstGeom>
          <a:solidFill>
            <a:srgbClr val="4A6C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产品经理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200200" y="1660000"/>
            <a:ext cx="3000000" cy="42000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设计师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486000" y="1660000"/>
            <a:ext cx="3000000" cy="420000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前端开发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224400" y="2080000"/>
            <a:ext cx="380000" cy="3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500">
                <a:solidFill>
                  <a:srgbClr val="888899"/>
                </a:solidFill>
              </a:rPr>
              <a:t>↓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510200" y="2080000"/>
            <a:ext cx="380000" cy="3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500">
                <a:solidFill>
                  <a:srgbClr val="888899"/>
                </a:solidFill>
              </a:rPr>
              <a:t>↓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796000" y="2080000"/>
            <a:ext cx="380000" cy="3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500">
                <a:solidFill>
                  <a:srgbClr val="888899"/>
                </a:solidFill>
              </a:rPr>
              <a:t>↓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14400" y="2350000"/>
            <a:ext cx="3000000" cy="360000"/>
          </a:xfrm>
          <a:prstGeom prst="roundRect">
            <a:avLst/>
          </a:prstGeom>
          <a:solidFill>
            <a:srgbClr val="F5F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0">
                <a:solidFill>
                  <a:srgbClr val="1A1A2E"/>
                </a:solidFill>
              </a:rPr>
              <a:t>AI 生成 HTML 原型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00200" y="2350000"/>
            <a:ext cx="3000000" cy="360000"/>
          </a:xfrm>
          <a:prstGeom prst="roundRect">
            <a:avLst/>
          </a:prstGeom>
          <a:solidFill>
            <a:srgbClr val="F5F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0">
                <a:solidFill>
                  <a:srgbClr val="1A1A2E"/>
                </a:solidFill>
              </a:rPr>
              <a:t>AI 生成独立设计稿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486000" y="2350000"/>
            <a:ext cx="3000000" cy="360000"/>
          </a:xfrm>
          <a:prstGeom prst="roundRect">
            <a:avLst/>
          </a:prstGeom>
          <a:solidFill>
            <a:srgbClr val="F5F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0">
                <a:solidFill>
                  <a:srgbClr val="1A1A2E"/>
                </a:solidFill>
              </a:rPr>
              <a:t>AI 从零写项目代码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224400" y="2710000"/>
            <a:ext cx="380000" cy="3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500">
                <a:solidFill>
                  <a:srgbClr val="888899"/>
                </a:solidFill>
              </a:rPr>
              <a:t>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510200" y="2710000"/>
            <a:ext cx="380000" cy="3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500">
                <a:solidFill>
                  <a:srgbClr val="888899"/>
                </a:solidFill>
              </a:rPr>
              <a:t>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796000" y="2710000"/>
            <a:ext cx="380000" cy="3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500">
                <a:solidFill>
                  <a:srgbClr val="888899"/>
                </a:solidFill>
              </a:rPr>
              <a:t>↓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14400" y="2980000"/>
            <a:ext cx="3000000" cy="360000"/>
          </a:xfrm>
          <a:prstGeom prst="roundRect">
            <a:avLst/>
          </a:prstGeom>
          <a:solidFill>
            <a:srgbClr val="EBE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0">
                <a:solidFill>
                  <a:srgbClr val="4A6CF7"/>
                </a:solidFill>
              </a:rPr>
              <a:t>原型文件（独立）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200200" y="2980000"/>
            <a:ext cx="3000000" cy="360000"/>
          </a:xfrm>
          <a:prstGeom prst="roundRect">
            <a:avLst/>
          </a:prstGeom>
          <a:solidFill>
            <a:srgbClr val="EB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0">
                <a:solidFill>
                  <a:srgbClr val="10B981"/>
                </a:solidFill>
              </a:rPr>
              <a:t>设计稿文件（独立）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486000" y="2980000"/>
            <a:ext cx="3000000" cy="360000"/>
          </a:xfrm>
          <a:prstGeom prst="roundRect">
            <a:avLst/>
          </a:prstGeom>
          <a:solidFill>
            <a:srgbClr val="FEF9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0">
                <a:solidFill>
                  <a:srgbClr val="F59E0B"/>
                </a:solidFill>
              </a:rPr>
              <a:t>前端代码（独立）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224400" y="3340000"/>
            <a:ext cx="380000" cy="3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>
                <a:solidFill>
                  <a:srgbClr val="888899"/>
                </a:solidFill>
              </a:rPr>
              <a:t>↘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510200" y="3340000"/>
            <a:ext cx="380000" cy="3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>
                <a:solidFill>
                  <a:srgbClr val="888899"/>
                </a:solidFill>
              </a:rPr>
              <a:t>↓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796000" y="3340000"/>
            <a:ext cx="380000" cy="3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>
                <a:solidFill>
                  <a:srgbClr val="888899"/>
                </a:solidFill>
              </a:rPr>
              <a:t>↙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14400" y="3690000"/>
            <a:ext cx="9571600" cy="430000"/>
          </a:xfrm>
          <a:prstGeom prst="roundRect">
            <a:avLst/>
          </a:prstGeom>
          <a:solidFill>
            <a:srgbClr val="FF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E11D48"/>
                </a:solidFill>
              </a:rPr>
              <a:t>反复对齐会议  ×  3 ～ 5 轮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94400" y="4270000"/>
            <a:ext cx="3090533" cy="2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888899"/>
                </a:solidFill>
              </a:rPr>
              <a:t>• 同一个 UI 被做了 3 遍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184933" y="4270000"/>
            <a:ext cx="3090533" cy="2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888899"/>
                </a:solidFill>
              </a:rPr>
              <a:t>• 每次变更三处都要同步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75466" y="4270000"/>
            <a:ext cx="3090533" cy="2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888899"/>
                </a:solidFill>
              </a:rPr>
              <a:t>• 上下文在传递中衰减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380000"/>
            <a:ext cx="10363200" cy="64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>
                <a:solidFill>
                  <a:srgbClr val="1A1A2E"/>
                </a:solidFill>
              </a:rPr>
              <a:t>02  新协作模式：以源码为中心，消除对齐成本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020000"/>
            <a:ext cx="10363200" cy="4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>
                <a:solidFill>
                  <a:srgbClr val="888899"/>
                </a:solidFill>
              </a:rPr>
              <a:t>每个角色用最擅长的方式直接作用于同一份代码，修改即同步，无需反复对齐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2660000"/>
            <a:ext cx="2100000" cy="460000"/>
          </a:xfrm>
          <a:prstGeom prst="roundRect">
            <a:avLst/>
          </a:prstGeom>
          <a:solidFill>
            <a:srgbClr val="4A6C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FFFFFF"/>
                </a:solidFill>
              </a:rPr>
              <a:t>产品经理</a:t>
            </a:r>
          </a:p>
          <a:p>
            <a:pPr algn="ctr"/>
            <a:r>
              <a:rPr sz="1200">
                <a:solidFill>
                  <a:srgbClr val="CCD6FF"/>
                </a:solidFill>
              </a:rPr>
              <a:t>标注需求 · 评论元素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069400" y="2700000"/>
            <a:ext cx="380000" cy="3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000">
                <a:solidFill>
                  <a:srgbClr val="888899"/>
                </a:solidFill>
              </a:rPr>
              <a:t>→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3320000"/>
            <a:ext cx="2100000" cy="46000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FFFFFF"/>
                </a:solidFill>
              </a:rPr>
              <a:t>设计师</a:t>
            </a:r>
          </a:p>
          <a:p>
            <a:pPr algn="ctr"/>
            <a:r>
              <a:rPr sz="1200">
                <a:solidFill>
                  <a:srgbClr val="BBEEDD"/>
                </a:solidFill>
              </a:rPr>
              <a:t>可视化调整样式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069400" y="3360000"/>
            <a:ext cx="380000" cy="3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000">
                <a:solidFill>
                  <a:srgbClr val="888899"/>
                </a:solidFill>
              </a:rPr>
              <a:t>→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4400" y="3980000"/>
            <a:ext cx="2100000" cy="460000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FFFFFF"/>
                </a:solidFill>
              </a:rPr>
              <a:t>前端开发</a:t>
            </a:r>
          </a:p>
          <a:p>
            <a:pPr algn="ctr"/>
            <a:r>
              <a:rPr sz="1200">
                <a:solidFill>
                  <a:srgbClr val="FFEEBB"/>
                </a:solidFill>
              </a:rPr>
              <a:t>补充业务逻辑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069400" y="4020000"/>
            <a:ext cx="380000" cy="3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000">
                <a:solidFill>
                  <a:srgbClr val="888899"/>
                </a:solidFill>
              </a:rPr>
              <a:t>→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94400" y="2710000"/>
            <a:ext cx="2100000" cy="1680000"/>
          </a:xfrm>
          <a:prstGeom prst="roundRect">
            <a:avLst/>
          </a:prstGeom>
          <a:solidFill>
            <a:srgbClr val="4A6C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900" b="1">
                <a:solidFill>
                  <a:srgbClr val="FFFFFF"/>
                </a:solidFill>
              </a:rPr>
              <a:t>PrismDesign</a:t>
            </a:r>
          </a:p>
          <a:p>
            <a:pPr algn="ctr"/>
            <a:r>
              <a:rPr sz="1600">
                <a:solidFill>
                  <a:srgbClr val="BBCCFF"/>
                </a:solidFill>
              </a:rPr>
              <a:t>Chrome 插件 + AI Agent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49400" y="3360000"/>
            <a:ext cx="380000" cy="3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>
                <a:solidFill>
                  <a:srgbClr val="888899"/>
                </a:solidFill>
              </a:rPr>
              <a:t>→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034400" y="3170000"/>
            <a:ext cx="1950000" cy="760000"/>
          </a:xfrm>
          <a:prstGeom prst="roundRect">
            <a:avLst/>
          </a:prstGeom>
          <a:solidFill>
            <a:srgbClr val="1E28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源代码仓库</a:t>
            </a:r>
          </a:p>
          <a:p>
            <a:pPr algn="ctr"/>
            <a:r>
              <a:rPr sz="1300">
                <a:solidFill>
                  <a:srgbClr val="8888AA"/>
                </a:solidFill>
              </a:rPr>
              <a:t>Git 可追溯 · 可回滚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39400" y="3360000"/>
            <a:ext cx="380000" cy="3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>
                <a:solidFill>
                  <a:srgbClr val="888899"/>
                </a:solidFill>
              </a:rPr>
              <a:t>→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364400" y="3260000"/>
            <a:ext cx="1700000" cy="58000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</a:rPr>
              <a:t>运行中的页面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14400" y="5150000"/>
            <a:ext cx="3110533" cy="780000"/>
          </a:xfrm>
          <a:prstGeom prst="roundRect">
            <a:avLst/>
          </a:prstGeom>
          <a:solidFill>
            <a:srgbClr val="F5F5FA"/>
          </a:solidFill>
          <a:ln w="9525">
            <a:solidFill>
              <a:srgbClr val="DDDD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914400" y="5150000"/>
            <a:ext cx="45720" cy="780000"/>
          </a:xfrm>
          <a:prstGeom prst="roundRect">
            <a:avLst/>
          </a:prstGeom>
          <a:solidFill>
            <a:srgbClr val="4A6C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64400" y="5280000"/>
            <a:ext cx="2930533" cy="2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A1A2E"/>
                </a:solidFill>
              </a:rPr>
              <a:t>零歧义沟通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64400" y="5570000"/>
            <a:ext cx="2930533" cy="2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888899"/>
                </a:solidFill>
              </a:rPr>
              <a:t>点击元素精准标注，告别模糊文字描述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144933" y="5150000"/>
            <a:ext cx="3110533" cy="780000"/>
          </a:xfrm>
          <a:prstGeom prst="roundRect">
            <a:avLst/>
          </a:prstGeom>
          <a:solidFill>
            <a:srgbClr val="F5F5FA"/>
          </a:solidFill>
          <a:ln w="9525">
            <a:solidFill>
              <a:srgbClr val="DDDD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4144933" y="5150000"/>
            <a:ext cx="45720" cy="78000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294933" y="5280000"/>
            <a:ext cx="2930533" cy="2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A1A2E"/>
                </a:solidFill>
              </a:rPr>
              <a:t>即改即看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294933" y="5570000"/>
            <a:ext cx="2930533" cy="2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888899"/>
                </a:solidFill>
              </a:rPr>
              <a:t>样式修改直接反映到页面，无需设计稿还原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375466" y="5150000"/>
            <a:ext cx="3110533" cy="780000"/>
          </a:xfrm>
          <a:prstGeom prst="roundRect">
            <a:avLst/>
          </a:prstGeom>
          <a:solidFill>
            <a:srgbClr val="F5F5FA"/>
          </a:solidFill>
          <a:ln w="9525">
            <a:solidFill>
              <a:srgbClr val="DDDD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7375466" y="5150000"/>
            <a:ext cx="45720" cy="780000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525466" y="5280000"/>
            <a:ext cx="2930533" cy="2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A1A2E"/>
                </a:solidFill>
              </a:rPr>
              <a:t>对齐成本 -80%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525466" y="5570000"/>
            <a:ext cx="2930533" cy="2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888899"/>
                </a:solidFill>
              </a:rPr>
              <a:t>无需反复会议，需求变更自动扩散到各层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380000"/>
            <a:ext cx="10363200" cy="64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>
                <a:solidFill>
                  <a:srgbClr val="1A1A2E"/>
                </a:solidFill>
              </a:rPr>
              <a:t>03  实现方案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020000"/>
            <a:ext cx="10363200" cy="4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>
                <a:solidFill>
                  <a:srgbClr val="888899"/>
                </a:solidFill>
              </a:rPr>
              <a:t>Chrome 插件 + AI Agent 服务，两个组件协同工作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00000" y="2000000"/>
            <a:ext cx="2200000" cy="400000"/>
          </a:xfrm>
          <a:prstGeom prst="roundRect">
            <a:avLst/>
          </a:prstGeom>
          <a:solidFill>
            <a:srgbClr val="4A6C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60000" y="2100000"/>
            <a:ext cx="2080000" cy="2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</a:rPr>
              <a:t>用户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00000" y="2400000"/>
            <a:ext cx="2200000" cy="1600000"/>
          </a:xfrm>
          <a:prstGeom prst="roundRect">
            <a:avLst/>
          </a:prstGeom>
          <a:solidFill>
            <a:srgbClr val="EBEEFF"/>
          </a:solidFill>
          <a:ln w="9525">
            <a:solidFill>
              <a:srgbClr val="DDDD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0000" y="2520000"/>
            <a:ext cx="2040000" cy="2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</a:rPr>
              <a:t>· 产品经理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0000" y="2790000"/>
            <a:ext cx="2040000" cy="2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</a:rPr>
              <a:t>· 设计师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0000" y="3060000"/>
            <a:ext cx="2040000" cy="2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</a:rPr>
              <a:t>· 前端开发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100000" y="2000000"/>
            <a:ext cx="2200000" cy="40000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160000" y="2100000"/>
            <a:ext cx="2080000" cy="2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</a:rPr>
              <a:t>Chrome 插件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100000" y="2400000"/>
            <a:ext cx="2200000" cy="1600000"/>
          </a:xfrm>
          <a:prstGeom prst="roundRect">
            <a:avLst/>
          </a:prstGeom>
          <a:solidFill>
            <a:srgbClr val="EBF7F2"/>
          </a:solidFill>
          <a:ln w="9525">
            <a:solidFill>
              <a:srgbClr val="DDDD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220000" y="2520000"/>
            <a:ext cx="2040000" cy="2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</a:rPr>
              <a:t>· 浮动工具栏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20000" y="2790000"/>
            <a:ext cx="2040000" cy="2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</a:rPr>
              <a:t>· 元素选中与检测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20000" y="3060000"/>
            <a:ext cx="2040000" cy="2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</a:rPr>
              <a:t>· 属性编辑面板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20000" y="3330000"/>
            <a:ext cx="2040000" cy="2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</a:rPr>
              <a:t>· 评论标注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20000" y="3600000"/>
            <a:ext cx="2040000" cy="2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</a:rPr>
              <a:t>· 聊天面板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500000" y="2000000"/>
            <a:ext cx="2200000" cy="400000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560000" y="2100000"/>
            <a:ext cx="2080000" cy="2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</a:rPr>
              <a:t>AI Agent 服务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500000" y="2400000"/>
            <a:ext cx="2200000" cy="1600000"/>
          </a:xfrm>
          <a:prstGeom prst="roundRect">
            <a:avLst/>
          </a:prstGeom>
          <a:solidFill>
            <a:srgbClr val="F5F5FA"/>
          </a:solidFill>
          <a:ln w="9525">
            <a:solidFill>
              <a:srgbClr val="DDDD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620000" y="2520000"/>
            <a:ext cx="2040000" cy="2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</a:rPr>
              <a:t>· 项目扫描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620000" y="2790000"/>
            <a:ext cx="2040000" cy="2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</a:rPr>
              <a:t>· 上下文构建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620000" y="3060000"/>
            <a:ext cx="2040000" cy="2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</a:rPr>
              <a:t>· 代码搜索与读写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620000" y="3330000"/>
            <a:ext cx="2040000" cy="2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</a:rPr>
              <a:t>· HMR 热更新联动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620000" y="3600000"/>
            <a:ext cx="2040000" cy="2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</a:rPr>
              <a:t>· MCP / Skill 扩展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900000" y="2000000"/>
            <a:ext cx="2200000" cy="400000"/>
          </a:xfrm>
          <a:prstGeom prst="roundRect">
            <a:avLst/>
          </a:prstGeom>
          <a:solidFill>
            <a:srgbClr val="C07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960000" y="2100000"/>
            <a:ext cx="2080000" cy="2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</a:rPr>
              <a:t>项目源代码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900000" y="2400000"/>
            <a:ext cx="2200000" cy="1600000"/>
          </a:xfrm>
          <a:prstGeom prst="roundRect">
            <a:avLst/>
          </a:prstGeom>
          <a:solidFill>
            <a:srgbClr val="FEF9EB"/>
          </a:solidFill>
          <a:ln w="9525">
            <a:solidFill>
              <a:srgbClr val="DDDD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020000" y="2520000"/>
            <a:ext cx="2040000" cy="2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</a:rPr>
              <a:t>· 组件库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020000" y="2790000"/>
            <a:ext cx="2040000" cy="2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</a:rPr>
              <a:t>· 设计规范 / Token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020000" y="3060000"/>
            <a:ext cx="2040000" cy="2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</a:rPr>
              <a:t>· 业务代码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020000" y="3330000"/>
            <a:ext cx="2040000" cy="2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</a:rPr>
              <a:t>· Git 版本管理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900000" y="2810000"/>
            <a:ext cx="380000" cy="3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>
                <a:solidFill>
                  <a:srgbClr val="888899"/>
                </a:solidFill>
              </a:rPr>
              <a:t>→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300000" y="2810000"/>
            <a:ext cx="380000" cy="3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>
                <a:solidFill>
                  <a:srgbClr val="888899"/>
                </a:solidFill>
              </a:rPr>
              <a:t>→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700000" y="2810000"/>
            <a:ext cx="380000" cy="3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>
                <a:solidFill>
                  <a:srgbClr val="888899"/>
                </a:solidFill>
              </a:rPr>
              <a:t>→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900000" y="3240000"/>
            <a:ext cx="380000" cy="2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888899"/>
                </a:solidFill>
              </a:rPr>
              <a:t>浏览器操作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300000" y="3240000"/>
            <a:ext cx="380000" cy="2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888899"/>
                </a:solidFill>
              </a:rPr>
              <a:t>WebSocket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700000" y="3240000"/>
            <a:ext cx="380000" cy="2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888899"/>
                </a:solidFill>
              </a:rPr>
              <a:t>读写代码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700000" y="4280000"/>
            <a:ext cx="10792000" cy="500000"/>
          </a:xfrm>
          <a:prstGeom prst="roundRect">
            <a:avLst/>
          </a:prstGeom>
          <a:solidFill>
            <a:srgbClr val="F5F5FA"/>
          </a:solidFill>
          <a:ln w="9525">
            <a:solidFill>
              <a:srgbClr val="DDDD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0">
                <a:solidFill>
                  <a:srgbClr val="1A1A2E"/>
                </a:solidFill>
              </a:rPr>
              <a:t>插件通过 Content Script 注入页面，实现元素选中、高亮、属性编辑；源代码变更后 HMR 热更新自动刷新页面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380000"/>
            <a:ext cx="10363200" cy="64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>
                <a:solidFill>
                  <a:srgbClr val="1A1A2E"/>
                </a:solidFill>
              </a:rPr>
              <a:t>04  插件演示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048000" y="3200000"/>
            <a:ext cx="6096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BBBBBB"/>
                </a:solidFill>
              </a:rPr>
              <a:t>（请在此处插入演示视频或截图）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380000"/>
            <a:ext cx="10363200" cy="64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>
                <a:solidFill>
                  <a:srgbClr val="1A1A2E"/>
                </a:solidFill>
              </a:rPr>
              <a:t>05  协作效率提升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020000"/>
            <a:ext cx="10363200" cy="4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>
                <a:solidFill>
                  <a:srgbClr val="888899"/>
                </a:solidFill>
              </a:rPr>
              <a:t>从「反复对齐」到「同步工作」，每个协作环节都有质变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1660000"/>
            <a:ext cx="2500000" cy="480000"/>
          </a:xfrm>
          <a:prstGeom prst="round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</a:rPr>
              <a:t>指标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474400" y="1660000"/>
            <a:ext cx="2700000" cy="480000"/>
          </a:xfrm>
          <a:prstGeom prst="roundRect">
            <a:avLst/>
          </a:prstGeom>
          <a:solidFill>
            <a:srgbClr val="E11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</a:rPr>
              <a:t>旧模式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34400" y="1660000"/>
            <a:ext cx="2700000" cy="48000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</a:rPr>
              <a:t>新模式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994400" y="1660000"/>
            <a:ext cx="1660000" cy="480000"/>
          </a:xfrm>
          <a:prstGeom prst="roundRect">
            <a:avLst/>
          </a:prstGeom>
          <a:solidFill>
            <a:srgbClr val="4A6C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</a:rPr>
              <a:t>改善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4400" y="2156000"/>
            <a:ext cx="2500000" cy="520000"/>
          </a:xfrm>
          <a:prstGeom prst="roundRect">
            <a:avLst/>
          </a:prstGeom>
          <a:solidFill>
            <a:srgbClr val="FAFAFD"/>
          </a:solidFill>
          <a:ln w="9525">
            <a:solidFill>
              <a:srgbClr val="DDDD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64400" y="2286000"/>
            <a:ext cx="2300000" cy="3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</a:rPr>
              <a:t>需求传达方式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74400" y="2156000"/>
            <a:ext cx="2700000" cy="520000"/>
          </a:xfrm>
          <a:prstGeom prst="roundRect">
            <a:avLst/>
          </a:prstGeom>
          <a:solidFill>
            <a:srgbClr val="FAFAFD"/>
          </a:solidFill>
          <a:ln w="9525">
            <a:solidFill>
              <a:srgbClr val="DDDD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24400" y="2286000"/>
            <a:ext cx="2500000" cy="3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992222"/>
                </a:solidFill>
              </a:rPr>
              <a:t>文字描述 + 多轮会议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34400" y="2156000"/>
            <a:ext cx="2700000" cy="520000"/>
          </a:xfrm>
          <a:prstGeom prst="roundRect">
            <a:avLst/>
          </a:prstGeom>
          <a:solidFill>
            <a:srgbClr val="FAFAFD"/>
          </a:solidFill>
          <a:ln w="9525">
            <a:solidFill>
              <a:srgbClr val="DDDD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84400" y="2286000"/>
            <a:ext cx="2500000" cy="3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0A7A55"/>
                </a:solidFill>
              </a:rPr>
              <a:t>点击元素直接标注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994400" y="2156000"/>
            <a:ext cx="1660000" cy="520000"/>
          </a:xfrm>
          <a:prstGeom prst="roundRect">
            <a:avLst/>
          </a:prstGeom>
          <a:solidFill>
            <a:srgbClr val="FAFAFD"/>
          </a:solidFill>
          <a:ln w="9525">
            <a:solidFill>
              <a:srgbClr val="DDDD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400" y="2286000"/>
            <a:ext cx="1460000" cy="3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4A6CF7"/>
                </a:solidFill>
              </a:rPr>
              <a:t>零歧义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14400" y="2692000"/>
            <a:ext cx="2500000" cy="5200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DDD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64400" y="2822000"/>
            <a:ext cx="2300000" cy="3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</a:rPr>
              <a:t>UI 维护份数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474400" y="2692000"/>
            <a:ext cx="2700000" cy="5200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DDD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624400" y="2822000"/>
            <a:ext cx="2500000" cy="3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992222"/>
                </a:solidFill>
              </a:rPr>
              <a:t>3 份（原型+设计+代码）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34400" y="2692000"/>
            <a:ext cx="2700000" cy="5200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DDD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84400" y="2822000"/>
            <a:ext cx="2500000" cy="3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0A7A55"/>
                </a:solidFill>
              </a:rPr>
              <a:t>1 份（源码即一切）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994400" y="2692000"/>
            <a:ext cx="1660000" cy="5200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DDD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44400" y="2822000"/>
            <a:ext cx="1460000" cy="3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4A6CF7"/>
                </a:solidFill>
              </a:rPr>
              <a:t>↓ 67%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14400" y="3228000"/>
            <a:ext cx="2500000" cy="520000"/>
          </a:xfrm>
          <a:prstGeom prst="roundRect">
            <a:avLst/>
          </a:prstGeom>
          <a:solidFill>
            <a:srgbClr val="FAFAFD"/>
          </a:solidFill>
          <a:ln w="9525">
            <a:solidFill>
              <a:srgbClr val="DDDD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64400" y="3358000"/>
            <a:ext cx="2300000" cy="3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</a:rPr>
              <a:t>对齐轮次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474400" y="3228000"/>
            <a:ext cx="2700000" cy="520000"/>
          </a:xfrm>
          <a:prstGeom prst="roundRect">
            <a:avLst/>
          </a:prstGeom>
          <a:solidFill>
            <a:srgbClr val="FAFAFD"/>
          </a:solidFill>
          <a:ln w="9525">
            <a:solidFill>
              <a:srgbClr val="DDDD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624400" y="3358000"/>
            <a:ext cx="2500000" cy="3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992222"/>
                </a:solidFill>
              </a:rPr>
              <a:t>3 ～ 5 轮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234400" y="3228000"/>
            <a:ext cx="2700000" cy="520000"/>
          </a:xfrm>
          <a:prstGeom prst="roundRect">
            <a:avLst/>
          </a:prstGeom>
          <a:solidFill>
            <a:srgbClr val="FAFAFD"/>
          </a:solidFill>
          <a:ln w="9525">
            <a:solidFill>
              <a:srgbClr val="DDDD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384400" y="3358000"/>
            <a:ext cx="2500000" cy="3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0A7A55"/>
                </a:solidFill>
              </a:rPr>
              <a:t>0 ～ 1 轮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994400" y="3228000"/>
            <a:ext cx="1660000" cy="520000"/>
          </a:xfrm>
          <a:prstGeom prst="roundRect">
            <a:avLst/>
          </a:prstGeom>
          <a:solidFill>
            <a:srgbClr val="FAFAFD"/>
          </a:solidFill>
          <a:ln w="9525">
            <a:solidFill>
              <a:srgbClr val="DDDD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144400" y="3358000"/>
            <a:ext cx="1460000" cy="3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4A6CF7"/>
                </a:solidFill>
              </a:rPr>
              <a:t>↓ 80%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914400" y="3764000"/>
            <a:ext cx="2500000" cy="5200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DDD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64400" y="3894000"/>
            <a:ext cx="2300000" cy="3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</a:rPr>
              <a:t>设计走查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3474400" y="3764000"/>
            <a:ext cx="2700000" cy="5200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DDD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624400" y="3894000"/>
            <a:ext cx="2500000" cy="3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992222"/>
                </a:solidFill>
              </a:rPr>
              <a:t>必须（存在还原偏差）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234400" y="3764000"/>
            <a:ext cx="2700000" cy="5200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DDD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384400" y="3894000"/>
            <a:ext cx="2500000" cy="3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0A7A55"/>
                </a:solidFill>
              </a:rPr>
              <a:t>不需要（所见即代码）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8994400" y="3764000"/>
            <a:ext cx="1660000" cy="5200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DDD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144400" y="3894000"/>
            <a:ext cx="1460000" cy="3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4A6CF7"/>
                </a:solidFill>
              </a:rPr>
              <a:t>消除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914400" y="4300000"/>
            <a:ext cx="2500000" cy="520000"/>
          </a:xfrm>
          <a:prstGeom prst="roundRect">
            <a:avLst/>
          </a:prstGeom>
          <a:solidFill>
            <a:srgbClr val="FAFAFD"/>
          </a:solidFill>
          <a:ln w="9525">
            <a:solidFill>
              <a:srgbClr val="DDDD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064400" y="4430000"/>
            <a:ext cx="2300000" cy="3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</a:rPr>
              <a:t>样式修改路径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3474400" y="4300000"/>
            <a:ext cx="2700000" cy="520000"/>
          </a:xfrm>
          <a:prstGeom prst="roundRect">
            <a:avLst/>
          </a:prstGeom>
          <a:solidFill>
            <a:srgbClr val="FAFAFD"/>
          </a:solidFill>
          <a:ln w="9525">
            <a:solidFill>
              <a:srgbClr val="DDDD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3624400" y="4430000"/>
            <a:ext cx="2500000" cy="3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992222"/>
                </a:solidFill>
              </a:rPr>
              <a:t>设计→开发→实现→验收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6234400" y="4300000"/>
            <a:ext cx="2700000" cy="520000"/>
          </a:xfrm>
          <a:prstGeom prst="roundRect">
            <a:avLst/>
          </a:prstGeom>
          <a:solidFill>
            <a:srgbClr val="FAFAFD"/>
          </a:solidFill>
          <a:ln w="9525">
            <a:solidFill>
              <a:srgbClr val="DDDD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384400" y="4430000"/>
            <a:ext cx="2500000" cy="3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0A7A55"/>
                </a:solidFill>
              </a:rPr>
              <a:t>直接在页面上调整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8994400" y="4300000"/>
            <a:ext cx="1660000" cy="520000"/>
          </a:xfrm>
          <a:prstGeom prst="roundRect">
            <a:avLst/>
          </a:prstGeom>
          <a:solidFill>
            <a:srgbClr val="FAFAFD"/>
          </a:solidFill>
          <a:ln w="9525">
            <a:solidFill>
              <a:srgbClr val="DDDD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9144400" y="4430000"/>
            <a:ext cx="1460000" cy="3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4A6CF7"/>
                </a:solidFill>
              </a:rPr>
              <a:t>即时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914400" y="4836000"/>
            <a:ext cx="2500000" cy="5200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DDD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1064400" y="4966000"/>
            <a:ext cx="2300000" cy="3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</a:rPr>
              <a:t>需求变更成本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3474400" y="4836000"/>
            <a:ext cx="2700000" cy="5200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DDD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3624400" y="4966000"/>
            <a:ext cx="2500000" cy="3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992222"/>
                </a:solidFill>
              </a:rPr>
              <a:t>三处独立修改，易遗漏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6234400" y="4836000"/>
            <a:ext cx="2700000" cy="5200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DDD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384400" y="4966000"/>
            <a:ext cx="2500000" cy="3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0A7A55"/>
                </a:solidFill>
              </a:rPr>
              <a:t>改一处自动同步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8994400" y="4836000"/>
            <a:ext cx="1660000" cy="5200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DDD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9144400" y="4966000"/>
            <a:ext cx="1460000" cy="3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4A6CF7"/>
                </a:solidFill>
              </a:rPr>
              <a:t>显著降低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90000"/>
          </a:xfrm>
          <a:prstGeom prst="rect">
            <a:avLst/>
          </a:prstGeom>
          <a:solidFill>
            <a:srgbClr val="4A6C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20000" y="1980000"/>
            <a:ext cx="10800000" cy="12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>
                <a:solidFill>
                  <a:srgbClr val="1A1A2E"/>
                </a:solidFill>
              </a:rPr>
              <a:t>重构协作模式，降低沟通成本</a:t>
            </a:r>
          </a:p>
        </p:txBody>
      </p:sp>
      <p:sp>
        <p:nvSpPr>
          <p:cNvPr id="4" name="Rectangle 3"/>
          <p:cNvSpPr/>
          <p:nvPr/>
        </p:nvSpPr>
        <p:spPr>
          <a:xfrm>
            <a:off x="5220000" y="3311999"/>
            <a:ext cx="1728000" cy="36000"/>
          </a:xfrm>
          <a:prstGeom prst="rect">
            <a:avLst/>
          </a:prstGeom>
          <a:solidFill>
            <a:srgbClr val="4A6C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20000" y="3600000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888899"/>
                </a:solidFill>
              </a:rPr>
              <a:t>以源码为统一上下文、Schema 驱动协作，告别 AI 碎片化使用，大幅降低沟通成本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5760000"/>
            <a:ext cx="1080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AAAABB"/>
                </a:solidFill>
              </a:rPr>
              <a:t>PrismDesign · 2025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90000"/>
          </a:xfrm>
          <a:prstGeom prst="rect">
            <a:avLst/>
          </a:prstGeom>
          <a:solidFill>
            <a:srgbClr val="4A6C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0000" y="432000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A1A2E"/>
                </a:solidFill>
              </a:rPr>
              <a:t>基于棱镜平台的新协作流程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0000" y="1080000"/>
            <a:ext cx="10800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888899"/>
                </a:solidFill>
              </a:rPr>
              <a:t>以源码为统一上下文、Schema 驱动协作，告别 AI 碎片化使用，大幅降低沟通成本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28000" y="1728000"/>
            <a:ext cx="2088000" cy="367199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28000" y="1728000"/>
            <a:ext cx="2088000" cy="72000"/>
          </a:xfrm>
          <a:prstGeom prst="rect">
            <a:avLst/>
          </a:prstGeom>
          <a:solidFill>
            <a:srgbClr val="4A6C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002000" y="1979999"/>
            <a:ext cx="540000" cy="540000"/>
          </a:xfrm>
          <a:prstGeom prst="roundRect">
            <a:avLst/>
          </a:prstGeom>
          <a:solidFill>
            <a:srgbClr val="4A6C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00000" y="2628000"/>
            <a:ext cx="1944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1A1A2E"/>
                </a:solidFill>
              </a:rPr>
              <a:t>输出 Demo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36000" y="3096000"/>
            <a:ext cx="1872000" cy="1007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888899"/>
                </a:solidFill>
              </a:rPr>
              <a:t>业务在棱镜平台
基于 Mock 数据
快速迭代新功能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18000" y="4176000"/>
            <a:ext cx="1908000" cy="1080000"/>
          </a:xfrm>
          <a:prstGeom prst="round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3999" y="4212000"/>
            <a:ext cx="1836001" cy="1007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>
                <a:solidFill>
                  <a:srgbClr val="4A6CF7"/>
                </a:solidFill>
              </a:rPr>
              <a:t>AI 自动触发
sync-schema (Skill)
+ validate-schema.sh (Hook)
输出 Schema &amp; Entity-Map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316000" y="3383999"/>
            <a:ext cx="324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CCCCDD"/>
                </a:solidFill>
              </a:rPr>
              <a:t>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640000" y="1728000"/>
            <a:ext cx="2088000" cy="367199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640000" y="1728000"/>
            <a:ext cx="2088000" cy="720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3414000" y="1979999"/>
            <a:ext cx="540000" cy="54000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712000" y="2628000"/>
            <a:ext cx="1944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1A1A2E"/>
                </a:solidFill>
              </a:rPr>
              <a:t>设计调整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748000" y="3096000"/>
            <a:ext cx="1872000" cy="1007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888899"/>
                </a:solidFill>
              </a:rPr>
              <a:t>设计师在棱镜平台
直接进行
交互 &amp; 视觉调整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728000" y="3383999"/>
            <a:ext cx="324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CCCCDD"/>
                </a:solidFill>
              </a:rPr>
              <a:t>→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052000" y="1728000"/>
            <a:ext cx="2088000" cy="367199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052000" y="1728000"/>
            <a:ext cx="2088000" cy="720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5826000" y="1979999"/>
            <a:ext cx="540000" cy="540000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24000" y="2628000"/>
            <a:ext cx="1944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1A1A2E"/>
                </a:solidFill>
              </a:rPr>
              <a:t>需求评审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160000" y="3096000"/>
            <a:ext cx="1872000" cy="1007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888899"/>
                </a:solidFill>
              </a:rPr>
              <a:t>基于可运行 Demo
+ Entity-Map
进行需求评审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140000" y="3383999"/>
            <a:ext cx="324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CCCCDD"/>
                </a:solidFill>
              </a:rPr>
              <a:t>→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464000" y="1728000"/>
            <a:ext cx="2088000" cy="367199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464000" y="1728000"/>
            <a:ext cx="2088000" cy="7200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8238000" y="1979999"/>
            <a:ext cx="540000" cy="540000"/>
          </a:xfrm>
          <a:prstGeom prst="round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536000" y="2628000"/>
            <a:ext cx="1944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1A1A2E"/>
                </a:solidFill>
              </a:rPr>
              <a:t>前后端联调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572000" y="3096000"/>
            <a:ext cx="1872000" cy="1007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888899"/>
                </a:solidFill>
              </a:rPr>
              <a:t>评审通过后
基于 Schema 生成
前后端代码联调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552000" y="3383999"/>
            <a:ext cx="324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CCCCDD"/>
                </a:solidFill>
              </a:rPr>
              <a:t>→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9876000" y="1728000"/>
            <a:ext cx="2088000" cy="367199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9876000" y="1728000"/>
            <a:ext cx="2088000" cy="7200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10650000" y="1979999"/>
            <a:ext cx="540000" cy="540000"/>
          </a:xfrm>
          <a:prstGeom prst="round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948000" y="2628000"/>
            <a:ext cx="1944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1A1A2E"/>
                </a:solidFill>
              </a:rPr>
              <a:t>测试 &amp; 上线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984000" y="3096000"/>
            <a:ext cx="1872000" cy="1007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888899"/>
                </a:solidFill>
              </a:rPr>
              <a:t>功能 &amp; 集成测试
验证通过
发布上线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40000" y="5940000"/>
            <a:ext cx="1080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AAAABB"/>
                </a:solidFill>
              </a:rPr>
              <a:t>* Schema 生成由 AI 自动完成，业务无需额外操作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90000"/>
          </a:xfrm>
          <a:prstGeom prst="rect">
            <a:avLst/>
          </a:prstGeom>
          <a:solidFill>
            <a:srgbClr val="4A6C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0000" y="360000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A1A2E"/>
                </a:solidFill>
              </a:rPr>
              <a:t>Schema 同步过程演示</a:t>
            </a:r>
          </a:p>
        </p:txBody>
      </p:sp>
      <p:pic>
        <p:nvPicPr>
          <p:cNvPr id="4" name="Picture 3" descr="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4147" y="1260000"/>
            <a:ext cx="10643705" cy="523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90000"/>
          </a:xfrm>
          <a:prstGeom prst="rect">
            <a:avLst/>
          </a:prstGeom>
          <a:solidFill>
            <a:srgbClr val="4A6C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0000" y="360000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A1A2E"/>
                </a:solidFill>
              </a:rPr>
              <a:t>预估项目成果：各角色提效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0000" y="1007999"/>
            <a:ext cx="1080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888899"/>
                </a:solidFill>
              </a:rPr>
              <a:t>基于新协作模式，各角色在核心环节的预估效率变化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56000" y="1512000"/>
            <a:ext cx="2808000" cy="468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56000" y="1512000"/>
            <a:ext cx="2808000" cy="72000"/>
          </a:xfrm>
          <a:prstGeom prst="rect">
            <a:avLst/>
          </a:prstGeom>
          <a:solidFill>
            <a:srgbClr val="4A6C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300000" y="1728000"/>
            <a:ext cx="2520000" cy="468000"/>
          </a:xfrm>
          <a:prstGeom prst="roundRect">
            <a:avLst/>
          </a:prstGeom>
          <a:solidFill>
            <a:srgbClr val="4A6C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</a:rPr>
              <a:t>产品 / 业务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00000" y="2412000"/>
            <a:ext cx="1800001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>
                <a:solidFill>
                  <a:srgbClr val="1A1A2E"/>
                </a:solidFill>
              </a:rPr>
              <a:t>需求表达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00000" y="2700000"/>
            <a:ext cx="2520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888899"/>
                </a:solidFill>
              </a:rPr>
              <a:t>文字描述 → Demo 上直接标注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172000" y="2430000"/>
            <a:ext cx="648000" cy="234000"/>
          </a:xfrm>
          <a:prstGeom prst="roundRect">
            <a:avLst/>
          </a:prstGeom>
          <a:solidFill>
            <a:srgbClr val="4A6C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850" b="1">
                <a:solidFill>
                  <a:srgbClr val="FFFFFF"/>
                </a:solidFill>
              </a:rPr>
              <a:t>↓ 30%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00000" y="3312000"/>
            <a:ext cx="1800001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>
                <a:solidFill>
                  <a:srgbClr val="1A1A2E"/>
                </a:solidFill>
              </a:rPr>
              <a:t>原型管理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00000" y="3600000"/>
            <a:ext cx="2520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888899"/>
                </a:solidFill>
              </a:rPr>
              <a:t>独立维护原型文档 → Demo 即原型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172000" y="3330000"/>
            <a:ext cx="648000" cy="23400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850" b="1">
                <a:solidFill>
                  <a:srgbClr val="FFFFFF"/>
                </a:solidFill>
              </a:rPr>
              <a:t>-100%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180000" y="1512000"/>
            <a:ext cx="2808000" cy="468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180000" y="1512000"/>
            <a:ext cx="2808000" cy="720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3324000" y="1728000"/>
            <a:ext cx="2520000" cy="46800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</a:rPr>
              <a:t>设计师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324000" y="2412000"/>
            <a:ext cx="1800001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>
                <a:solidFill>
                  <a:srgbClr val="1A1A2E"/>
                </a:solidFill>
              </a:rPr>
              <a:t>设计出图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324000" y="2700000"/>
            <a:ext cx="2520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888899"/>
                </a:solidFill>
              </a:rPr>
              <a:t>自己出设计稿 → 基于真实组件库直接调整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196000" y="2430000"/>
            <a:ext cx="648000" cy="23400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850" b="1">
                <a:solidFill>
                  <a:srgbClr val="FFFFFF"/>
                </a:solidFill>
              </a:rPr>
              <a:t>-100%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324000" y="3312000"/>
            <a:ext cx="1800001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>
                <a:solidFill>
                  <a:srgbClr val="1A1A2E"/>
                </a:solidFill>
              </a:rPr>
              <a:t>设计走查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324000" y="3600000"/>
            <a:ext cx="2520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888899"/>
                </a:solidFill>
              </a:rPr>
              <a:t>逐页比对还原度 → 所见即代码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196000" y="3330000"/>
            <a:ext cx="648000" cy="23400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850" b="1">
                <a:solidFill>
                  <a:srgbClr val="FFFFFF"/>
                </a:solidFill>
              </a:rPr>
              <a:t>-100%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204000" y="1512000"/>
            <a:ext cx="2808000" cy="468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204000" y="1512000"/>
            <a:ext cx="2808000" cy="720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6348000" y="1728000"/>
            <a:ext cx="2520000" cy="468000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</a:rPr>
              <a:t>前端开发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48000" y="2412000"/>
            <a:ext cx="1800001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>
                <a:solidFill>
                  <a:srgbClr val="1A1A2E"/>
                </a:solidFill>
              </a:rPr>
              <a:t>UI 开发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48000" y="2700000"/>
            <a:ext cx="2520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888899"/>
                </a:solidFill>
              </a:rPr>
              <a:t>从零编写 → 基于 Demo 补逻辑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220000" y="2430000"/>
            <a:ext cx="648000" cy="234000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850" b="1">
                <a:solidFill>
                  <a:srgbClr val="FFFFFF"/>
                </a:solidFill>
              </a:rPr>
              <a:t>↓ 40%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48000" y="3312000"/>
            <a:ext cx="1800001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>
                <a:solidFill>
                  <a:srgbClr val="1A1A2E"/>
                </a:solidFill>
              </a:rPr>
              <a:t>接口联调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348000" y="3600000"/>
            <a:ext cx="2520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888899"/>
                </a:solidFill>
              </a:rPr>
              <a:t>口头约定 → Schema 生成类型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220000" y="3330000"/>
            <a:ext cx="648000" cy="234000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850" b="1">
                <a:solidFill>
                  <a:srgbClr val="FFFFFF"/>
                </a:solidFill>
              </a:rPr>
              <a:t>↓ 30%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348000" y="4212000"/>
            <a:ext cx="1800001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>
                <a:solidFill>
                  <a:srgbClr val="1A1A2E"/>
                </a:solidFill>
              </a:rPr>
              <a:t>需求理解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348000" y="4500000"/>
            <a:ext cx="2520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888899"/>
                </a:solidFill>
              </a:rPr>
              <a:t>文档 + 会议 → 可运行 Demo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220000" y="4230000"/>
            <a:ext cx="648000" cy="234000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850" b="1">
                <a:solidFill>
                  <a:srgbClr val="FFFFFF"/>
                </a:solidFill>
              </a:rPr>
              <a:t>↓ 40%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348000" y="5112000"/>
            <a:ext cx="1800001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>
                <a:solidFill>
                  <a:srgbClr val="1A1A2E"/>
                </a:solidFill>
              </a:rPr>
              <a:t>样式还原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348000" y="5400000"/>
            <a:ext cx="2520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888899"/>
                </a:solidFill>
              </a:rPr>
              <a:t>对着设计稿还原 → 设计直接改代码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8220000" y="5130000"/>
            <a:ext cx="648000" cy="23400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850" b="1">
                <a:solidFill>
                  <a:srgbClr val="FFFFFF"/>
                </a:solidFill>
              </a:rPr>
              <a:t>-100%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9228000" y="1512000"/>
            <a:ext cx="2808000" cy="468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9228000" y="1512000"/>
            <a:ext cx="2808000" cy="7200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ounded Rectangle 39"/>
          <p:cNvSpPr/>
          <p:nvPr/>
        </p:nvSpPr>
        <p:spPr>
          <a:xfrm>
            <a:off x="9372000" y="1728000"/>
            <a:ext cx="2520000" cy="468000"/>
          </a:xfrm>
          <a:prstGeom prst="round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</a:rPr>
              <a:t>后端开发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372000" y="2412000"/>
            <a:ext cx="1800001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>
                <a:solidFill>
                  <a:srgbClr val="1A1A2E"/>
                </a:solidFill>
              </a:rPr>
              <a:t>接口定义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372000" y="2700000"/>
            <a:ext cx="2520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888899"/>
                </a:solidFill>
              </a:rPr>
              <a:t>反复沟通字段 → Schema 驱动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11244000" y="2430000"/>
            <a:ext cx="648000" cy="234000"/>
          </a:xfrm>
          <a:prstGeom prst="round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850" b="1">
                <a:solidFill>
                  <a:srgbClr val="FFFFFF"/>
                </a:solidFill>
              </a:rPr>
              <a:t>↓ 30%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372000" y="3312000"/>
            <a:ext cx="1800001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>
                <a:solidFill>
                  <a:srgbClr val="1A1A2E"/>
                </a:solidFill>
              </a:rPr>
              <a:t>代码生成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372000" y="3600000"/>
            <a:ext cx="2520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888899"/>
                </a:solidFill>
              </a:rPr>
              <a:t>手写 DTO → Schema 生成骨架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11244000" y="3330000"/>
            <a:ext cx="648000" cy="234000"/>
          </a:xfrm>
          <a:prstGeom prst="round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850" b="1">
                <a:solidFill>
                  <a:srgbClr val="FFFFFF"/>
                </a:solidFill>
              </a:rPr>
              <a:t>↓ 20%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372000" y="4212000"/>
            <a:ext cx="1800001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>
                <a:solidFill>
                  <a:srgbClr val="1A1A2E"/>
                </a:solidFill>
              </a:rPr>
              <a:t>需求理解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372000" y="4500000"/>
            <a:ext cx="2520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888899"/>
                </a:solidFill>
              </a:rPr>
              <a:t>文档 + 会议 → 可运行 Demo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11244000" y="4230000"/>
            <a:ext cx="648000" cy="234000"/>
          </a:xfrm>
          <a:prstGeom prst="round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850" b="1">
                <a:solidFill>
                  <a:srgbClr val="FFFFFF"/>
                </a:solidFill>
              </a:rPr>
              <a:t>↓ 40%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